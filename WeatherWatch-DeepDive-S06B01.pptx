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 intro: WeatherWatch is a serverless poller. Today's deep-dive: what's built and working, then the networking deep-tier — how it moves into a VPC with public/private subnets — mapped to Well-Architected. ~4 minutes, review-round.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built: a Terraform-managed serverless pipeline. Client hits API Gateway, which invokes the Lambda under LabRole. The Lambda reads its key from Secrets Manager, calls OpenWeatherMap once, transforms, and stores in the on-demand DynamoDB table. Three Terraform phases, all in us-east-1.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describe it — here it is running. I curl the public endpoint; it returns live London weather with HTTP 200 and the item id. Then get-item shows the same record persisted in DynamoDB. That exercises the whole chain in one request. (If the lab is up I run this live; the panel is my backup.)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networking deep-tier. Today the services are all managed with no VPC. The target: put the Lambda in private subnets across two AZs. Its calls to DynamoDB and Secrets Manager go through VPC endpoints, so that traffic never leaves the AWS network. The only egress is outbound to OpenWeatherMap through a NAT and Internet Gateway. This is the Security pillar — minimize exposure.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decision names what I chose, what I rejected, and the pillar. On-demand DynamoDB over RDS for cost. HTTP API over a signed Function URL for operational excellence — it's browser-testable. Secrets Manager over an env var for security. All reviewed against the six Well-Architected pillars.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left: apply the throttle live, build out the VPC, add observability, swap LabRole for a least-privilege role, document rotation. The one risk I'm watching: the public unauthenticated endpoint driving compute and a paid API call — a burst runs up cost. Mitigation is in flight: throttling is committed, and the networking target pulls the data plane onto private endpoints.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the Well-Architected whitepaper, the Terraform AWS provider docs for each resource, the Lambda VPC configuration guide, and the DynamoDB on-demand guide. Happy to take review-round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515600" cy="2011680"/>
          </a:xfrm>
          <a:prstGeom prst="rect">
            <a:avLst/>
          </a:prstGeom>
          <a:noFill/>
        </p:spPr>
        <p:txBody>
          <a:bodyPr wrap="square" anchor="t" lIns="0" rIns="0" tIns="0" bIns="0">
            <a:spAutoFit/>
          </a:bodyPr>
          <a:lstStyle/>
          <a:p>
            <a:pPr algn="l">
              <a:spcBef>
                <a:spcPts val="0"/>
              </a:spcBef>
              <a:spcAft>
                <a:spcPts val="400"/>
              </a:spcAft>
            </a:pPr>
            <a:r>
              <a:rPr sz="5400" b="1" i="0">
                <a:solidFill>
                  <a:srgbClr val="FFFFFF"/>
                </a:solidFill>
                <a:latin typeface="Calibri"/>
              </a:rPr>
              <a:t>WeatherWatch</a:t>
            </a:r>
          </a:p>
          <a:p>
            <a:pPr algn="l">
              <a:spcBef>
                <a:spcPts val="0"/>
              </a:spcBef>
              <a:spcAft>
                <a:spcPts val="400"/>
              </a:spcAft>
            </a:pPr>
            <a:r>
              <a:rPr sz="3000" b="0" i="0">
                <a:solidFill>
                  <a:srgbClr val="CADCFC"/>
                </a:solidFill>
                <a:latin typeface="Calibri"/>
              </a:rPr>
              <a:t>Capstone Architecture Deep-Dive</a:t>
            </a:r>
          </a:p>
        </p:txBody>
      </p:sp>
      <p:sp>
        <p:nvSpPr>
          <p:cNvPr id="4" name="Rounded Rectangle 3"/>
          <p:cNvSpPr/>
          <p:nvPr/>
        </p:nvSpPr>
        <p:spPr>
          <a:xfrm>
            <a:off x="868680" y="3977639"/>
            <a:ext cx="5029200" cy="566928"/>
          </a:xfrm>
          <a:prstGeom prst="roundRect">
            <a:avLst>
              <a:gd name="adj" fmla="val 5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4069080"/>
            <a:ext cx="4754880" cy="457200"/>
          </a:xfrm>
          <a:prstGeom prst="rect">
            <a:avLst/>
          </a:prstGeom>
          <a:noFill/>
        </p:spPr>
        <p:txBody>
          <a:bodyPr wrap="square" anchor="ctr" lIns="0" rIns="0" tIns="0" bIns="0">
            <a:spAutoFit/>
          </a:bodyPr>
          <a:lstStyle/>
          <a:p>
            <a:pPr algn="l">
              <a:spcBef>
                <a:spcPts val="0"/>
              </a:spcBef>
              <a:spcAft>
                <a:spcPts val="400"/>
              </a:spcAft>
            </a:pPr>
            <a:r>
              <a:rPr sz="1500" b="1" i="0">
                <a:solidFill>
                  <a:srgbClr val="FFFFFF"/>
                </a:solidFill>
                <a:latin typeface="Calibri"/>
              </a:rPr>
              <a:t>S06B01  ·  Deep-tier track: Networking</a:t>
            </a:r>
          </a:p>
        </p:txBody>
      </p:sp>
      <p:sp>
        <p:nvSpPr>
          <p:cNvPr id="6" name="TextBox 5"/>
          <p:cNvSpPr txBox="1"/>
          <p:nvPr/>
        </p:nvSpPr>
        <p:spPr>
          <a:xfrm>
            <a:off x="868680" y="4800600"/>
            <a:ext cx="10515600" cy="1097280"/>
          </a:xfrm>
          <a:prstGeom prst="rect">
            <a:avLst/>
          </a:prstGeom>
          <a:noFill/>
        </p:spPr>
        <p:txBody>
          <a:bodyPr wrap="square" anchor="t" lIns="0" rIns="0" tIns="0" bIns="0">
            <a:spAutoFit/>
          </a:bodyPr>
          <a:lstStyle/>
          <a:p>
            <a:pPr algn="l">
              <a:spcBef>
                <a:spcPts val="0"/>
              </a:spcBef>
              <a:spcAft>
                <a:spcPts val="400"/>
              </a:spcAft>
            </a:pPr>
            <a:r>
              <a:rPr sz="1500" b="0" i="0">
                <a:solidFill>
                  <a:srgbClr val="CADCFC"/>
                </a:solidFill>
                <a:latin typeface="Calibri"/>
              </a:rPr>
              <a:t>Serverless weather poller on AWS — public entry point, external API call, secret at runtime, on-demand storage — reviewed against the Well-Architected Framework and extended into a VPC.</a:t>
            </a:r>
          </a:p>
          <a:p>
            <a:pPr algn="l">
              <a:spcBef>
                <a:spcPts val="0"/>
              </a:spcBef>
              <a:spcAft>
                <a:spcPts val="0"/>
              </a:spcAft>
            </a:pPr>
            <a:r>
              <a:rPr sz="1300" b="0" i="0">
                <a:solidFill>
                  <a:srgbClr val="9AA8BD"/>
                </a:solidFill>
                <a:latin typeface="Calibri"/>
              </a:rPr>
              <a:t>Subahan Talamarla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4" name="TextBox 3"/>
          <p:cNvSpPr txBox="1"/>
          <p:nvPr/>
        </p:nvSpPr>
        <p:spPr>
          <a:xfrm>
            <a:off x="1097280" y="384048"/>
            <a:ext cx="10424160" cy="822960"/>
          </a:xfrm>
          <a:prstGeom prst="rect">
            <a:avLst/>
          </a:prstGeom>
          <a:noFill/>
        </p:spPr>
        <p:txBody>
          <a:bodyPr wrap="square" anchor="t" lIns="0" rIns="0" tIns="0" bIns="0">
            <a:spAutoFit/>
          </a:bodyPr>
          <a:lstStyle/>
          <a:p>
            <a:pPr algn="l">
              <a:spcBef>
                <a:spcPts val="0"/>
              </a:spcBef>
              <a:spcAft>
                <a:spcPts val="400"/>
              </a:spcAft>
            </a:pPr>
            <a:r>
              <a:rPr sz="3000" b="1" i="0">
                <a:solidFill>
                  <a:srgbClr val="1A2330"/>
                </a:solidFill>
                <a:latin typeface="Calibri"/>
              </a:rPr>
              <a:t>What's built</a:t>
            </a:r>
          </a:p>
          <a:p>
            <a:pPr algn="l">
              <a:spcBef>
                <a:spcPts val="0"/>
              </a:spcBef>
              <a:spcAft>
                <a:spcPts val="400"/>
              </a:spcAft>
            </a:pPr>
            <a:r>
              <a:rPr sz="1400" b="0" i="1">
                <a:solidFill>
                  <a:srgbClr val="0E7C86"/>
                </a:solidFill>
                <a:latin typeface="Calibri"/>
              </a:rPr>
              <a:t>Terraform-managed, us-east-1 — all three phases apply cleanly</a:t>
            </a:r>
          </a:p>
        </p:txBody>
      </p:sp>
      <p:pic>
        <p:nvPicPr>
          <p:cNvPr id="5" name="Picture 4" descr="arch_current-1.png"/>
          <p:cNvPicPr>
            <a:picLocks noChangeAspect="1"/>
          </p:cNvPicPr>
          <p:nvPr/>
        </p:nvPicPr>
        <p:blipFill>
          <a:blip r:embed="rId2"/>
          <a:stretch>
            <a:fillRect/>
          </a:stretch>
        </p:blipFill>
        <p:spPr>
          <a:xfrm>
            <a:off x="4572000" y="1737360"/>
            <a:ext cx="7132320" cy="2882543"/>
          </a:xfrm>
          <a:prstGeom prst="rect">
            <a:avLst/>
          </a:prstGeom>
        </p:spPr>
      </p:pic>
      <p:sp>
        <p:nvSpPr>
          <p:cNvPr id="6" name="TextBox 5"/>
          <p:cNvSpPr txBox="1"/>
          <p:nvPr/>
        </p:nvSpPr>
        <p:spPr>
          <a:xfrm>
            <a:off x="640080" y="1828800"/>
            <a:ext cx="3749039" cy="4206240"/>
          </a:xfrm>
          <a:prstGeom prst="rect">
            <a:avLst/>
          </a:prstGeom>
          <a:noFill/>
        </p:spPr>
        <p:txBody>
          <a:bodyPr wrap="square" anchor="t" lIns="0" rIns="0" tIns="0" bIns="0">
            <a:spAutoFit/>
          </a:bodyPr>
          <a:lstStyle/>
          <a:p>
            <a:pPr algn="l">
              <a:spcBef>
                <a:spcPts val="0"/>
              </a:spcBef>
              <a:spcAft>
                <a:spcPts val="400"/>
              </a:spcAft>
            </a:pPr>
            <a:r>
              <a:rPr sz="1600" b="1" i="0">
                <a:solidFill>
                  <a:srgbClr val="0E7C86"/>
                </a:solidFill>
                <a:latin typeface="Calibri"/>
              </a:rPr>
              <a:t>Public front door</a:t>
            </a:r>
          </a:p>
          <a:p>
            <a:pPr algn="l">
              <a:spcBef>
                <a:spcPts val="0"/>
              </a:spcBef>
              <a:spcAft>
                <a:spcPts val="1000"/>
              </a:spcAft>
            </a:pPr>
            <a:r>
              <a:rPr sz="1350" b="0" i="0">
                <a:solidFill>
                  <a:srgbClr val="1A2330"/>
                </a:solidFill>
                <a:latin typeface="Calibri"/>
              </a:rPr>
              <a:t>API Gateway HTTP API → Lambda (LabRole).</a:t>
            </a:r>
          </a:p>
          <a:p>
            <a:pPr algn="l">
              <a:spcBef>
                <a:spcPts val="0"/>
              </a:spcBef>
              <a:spcAft>
                <a:spcPts val="400"/>
              </a:spcAft>
            </a:pPr>
            <a:r>
              <a:rPr sz="1600" b="1" i="0">
                <a:solidFill>
                  <a:srgbClr val="0E7C86"/>
                </a:solidFill>
                <a:latin typeface="Calibri"/>
              </a:rPr>
              <a:t>One real API call</a:t>
            </a:r>
          </a:p>
          <a:p>
            <a:pPr algn="l">
              <a:spcBef>
                <a:spcPts val="0"/>
              </a:spcBef>
              <a:spcAft>
                <a:spcPts val="1000"/>
              </a:spcAft>
            </a:pPr>
            <a:r>
              <a:rPr sz="1350" b="0" i="0">
                <a:solidFill>
                  <a:srgbClr val="1A2330"/>
                </a:solidFill>
                <a:latin typeface="Calibri"/>
              </a:rPr>
              <a:t>Handler reads the OpenWeatherMap key from Secrets Manager at runtime and calls the API once.</a:t>
            </a:r>
          </a:p>
          <a:p>
            <a:pPr algn="l">
              <a:spcBef>
                <a:spcPts val="0"/>
              </a:spcBef>
              <a:spcAft>
                <a:spcPts val="400"/>
              </a:spcAft>
            </a:pPr>
            <a:r>
              <a:rPr sz="1600" b="1" i="0">
                <a:solidFill>
                  <a:srgbClr val="0E7C86"/>
                </a:solidFill>
                <a:latin typeface="Calibri"/>
              </a:rPr>
              <a:t>Something real with it</a:t>
            </a:r>
          </a:p>
          <a:p>
            <a:pPr algn="l">
              <a:spcBef>
                <a:spcPts val="0"/>
              </a:spcBef>
              <a:spcAft>
                <a:spcPts val="1000"/>
              </a:spcAft>
            </a:pPr>
            <a:r>
              <a:rPr sz="1350" b="0" i="0">
                <a:solidFill>
                  <a:srgbClr val="1A2330"/>
                </a:solidFill>
                <a:latin typeface="Calibri"/>
              </a:rPr>
              <a:t>Transforms the response and writes it to an on-demand DynamoDB table.</a:t>
            </a:r>
          </a:p>
          <a:p>
            <a:pPr algn="l">
              <a:spcBef>
                <a:spcPts val="0"/>
              </a:spcBef>
              <a:spcAft>
                <a:spcPts val="400"/>
              </a:spcAft>
            </a:pPr>
            <a:r>
              <a:rPr sz="1600" b="1" i="0">
                <a:solidFill>
                  <a:srgbClr val="0E7C86"/>
                </a:solidFill>
                <a:latin typeface="Calibri"/>
              </a:rPr>
              <a:t>All as code</a:t>
            </a:r>
          </a:p>
          <a:p>
            <a:pPr algn="l">
              <a:spcBef>
                <a:spcPts val="0"/>
              </a:spcBef>
              <a:spcAft>
                <a:spcPts val="400"/>
              </a:spcAft>
            </a:pPr>
            <a:r>
              <a:rPr sz="1350" b="0" i="0">
                <a:solidFill>
                  <a:srgbClr val="1A2330"/>
                </a:solidFill>
                <a:latin typeface="Calibri"/>
              </a:rPr>
              <a:t>Phase 0 table + state, Phase 1 Lambda + secret, Phase 2 front door — nothing hard-coded.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4" name="TextBox 3"/>
          <p:cNvSpPr txBox="1"/>
          <p:nvPr/>
        </p:nvSpPr>
        <p:spPr>
          <a:xfrm>
            <a:off x="1097280" y="384048"/>
            <a:ext cx="10424160" cy="822960"/>
          </a:xfrm>
          <a:prstGeom prst="rect">
            <a:avLst/>
          </a:prstGeom>
          <a:noFill/>
        </p:spPr>
        <p:txBody>
          <a:bodyPr wrap="square" anchor="t" lIns="0" rIns="0" tIns="0" bIns="0">
            <a:spAutoFit/>
          </a:bodyPr>
          <a:lstStyle/>
          <a:p>
            <a:pPr algn="l">
              <a:spcBef>
                <a:spcPts val="0"/>
              </a:spcBef>
              <a:spcAft>
                <a:spcPts val="400"/>
              </a:spcAft>
            </a:pPr>
            <a:r>
              <a:rPr sz="3000" b="1" i="0">
                <a:solidFill>
                  <a:srgbClr val="1A2330"/>
                </a:solidFill>
                <a:latin typeface="Calibri"/>
              </a:rPr>
              <a:t>What works — shown running</a:t>
            </a:r>
          </a:p>
          <a:p>
            <a:pPr algn="l">
              <a:spcBef>
                <a:spcPts val="0"/>
              </a:spcBef>
              <a:spcAft>
                <a:spcPts val="400"/>
              </a:spcAft>
            </a:pPr>
            <a:r>
              <a:rPr sz="1400" b="0" i="1">
                <a:solidFill>
                  <a:srgbClr val="0E7C86"/>
                </a:solidFill>
                <a:latin typeface="Calibri"/>
              </a:rPr>
              <a:t>One public request → live weather → persisted in DynamoDB</a:t>
            </a:r>
          </a:p>
        </p:txBody>
      </p:sp>
      <p:pic>
        <p:nvPicPr>
          <p:cNvPr id="5" name="Picture 4" descr="proof.png"/>
          <p:cNvPicPr>
            <a:picLocks noChangeAspect="1"/>
          </p:cNvPicPr>
          <p:nvPr/>
        </p:nvPicPr>
        <p:blipFill>
          <a:blip r:embed="rId2"/>
          <a:stretch>
            <a:fillRect/>
          </a:stretch>
        </p:blipFill>
        <p:spPr>
          <a:xfrm>
            <a:off x="640080" y="1783080"/>
            <a:ext cx="7040880" cy="2842133"/>
          </a:xfrm>
          <a:prstGeom prst="rect">
            <a:avLst/>
          </a:prstGeom>
        </p:spPr>
      </p:pic>
      <p:sp>
        <p:nvSpPr>
          <p:cNvPr id="6" name="Rounded Rectangle 5"/>
          <p:cNvSpPr/>
          <p:nvPr/>
        </p:nvSpPr>
        <p:spPr>
          <a:xfrm>
            <a:off x="7955279" y="1783080"/>
            <a:ext cx="3749039" cy="22860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83879" y="1938528"/>
            <a:ext cx="3291840" cy="2011680"/>
          </a:xfrm>
          <a:prstGeom prst="rect">
            <a:avLst/>
          </a:prstGeom>
          <a:noFill/>
        </p:spPr>
        <p:txBody>
          <a:bodyPr wrap="square" anchor="t" lIns="0" rIns="0" tIns="0" bIns="0">
            <a:spAutoFit/>
          </a:bodyPr>
          <a:lstStyle/>
          <a:p>
            <a:pPr algn="l">
              <a:spcBef>
                <a:spcPts val="0"/>
              </a:spcBef>
              <a:spcAft>
                <a:spcPts val="400"/>
              </a:spcAft>
            </a:pPr>
            <a:r>
              <a:rPr sz="1500" b="1" i="0">
                <a:solidFill>
                  <a:srgbClr val="0E7C86"/>
                </a:solidFill>
                <a:latin typeface="Calibri"/>
              </a:rPr>
              <a:t>Live demo — run it</a:t>
            </a:r>
          </a:p>
          <a:p>
            <a:pPr algn="l">
              <a:spcBef>
                <a:spcPts val="0"/>
              </a:spcBef>
              <a:spcAft>
                <a:spcPts val="300"/>
              </a:spcAft>
            </a:pPr>
            <a:r>
              <a:rPr sz="1050" b="0" i="0">
                <a:solidFill>
                  <a:srgbClr val="1A2330"/>
                </a:solidFill>
                <a:latin typeface="Calibri"/>
              </a:rPr>
              <a:t>terraform output -raw weather_endpoint</a:t>
            </a:r>
          </a:p>
          <a:p>
            <a:pPr algn="l">
              <a:spcBef>
                <a:spcPts val="0"/>
              </a:spcBef>
              <a:spcAft>
                <a:spcPts val="300"/>
              </a:spcAft>
            </a:pPr>
            <a:r>
              <a:rPr sz="1050" b="0" i="0">
                <a:solidFill>
                  <a:srgbClr val="1A2330"/>
                </a:solidFill>
                <a:latin typeface="Calibri"/>
              </a:rPr>
              <a:t>curl "$(…weather_endpoint)"</a:t>
            </a:r>
          </a:p>
          <a:p>
            <a:pPr algn="l">
              <a:spcBef>
                <a:spcPts val="0"/>
              </a:spcBef>
              <a:spcAft>
                <a:spcPts val="300"/>
              </a:spcAft>
            </a:pPr>
            <a:r>
              <a:rPr sz="1150" b="1" i="0">
                <a:solidFill>
                  <a:srgbClr val="2C5F1E"/>
                </a:solidFill>
                <a:latin typeface="Calibri"/>
              </a:rPr>
              <a:t>→ JSON weather, HTTP 200</a:t>
            </a:r>
          </a:p>
          <a:p>
            <a:pPr algn="l">
              <a:spcBef>
                <a:spcPts val="0"/>
              </a:spcBef>
              <a:spcAft>
                <a:spcPts val="300"/>
              </a:spcAft>
            </a:pPr>
            <a:r>
              <a:rPr sz="1050" b="0" i="0">
                <a:solidFill>
                  <a:srgbClr val="1A2330"/>
                </a:solidFill>
                <a:latin typeface="Calibri"/>
              </a:rPr>
              <a:t>aws dynamodb get-item …</a:t>
            </a:r>
          </a:p>
          <a:p>
            <a:pPr algn="l">
              <a:spcBef>
                <a:spcPts val="0"/>
              </a:spcBef>
              <a:spcAft>
                <a:spcPts val="400"/>
              </a:spcAft>
            </a:pPr>
            <a:r>
              <a:rPr sz="1150" b="1" i="0">
                <a:solidFill>
                  <a:srgbClr val="2C5F1E"/>
                </a:solidFill>
                <a:latin typeface="Calibri"/>
              </a:rPr>
              <a:t>→ item persisted</a:t>
            </a:r>
          </a:p>
        </p:txBody>
      </p:sp>
      <p:sp>
        <p:nvSpPr>
          <p:cNvPr id="8" name="Rounded Rectangle 7"/>
          <p:cNvSpPr/>
          <p:nvPr/>
        </p:nvSpPr>
        <p:spPr>
          <a:xfrm>
            <a:off x="7955279" y="4251960"/>
            <a:ext cx="3749039" cy="1600200"/>
          </a:xfrm>
          <a:prstGeom prst="roundRect">
            <a:avLst>
              <a:gd name="adj" fmla="val 8000"/>
            </a:avLst>
          </a:prstGeom>
          <a:solidFill>
            <a:srgbClr val="EA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79" y="4407408"/>
            <a:ext cx="3291840" cy="1325880"/>
          </a:xfrm>
          <a:prstGeom prst="rect">
            <a:avLst/>
          </a:prstGeom>
          <a:noFill/>
        </p:spPr>
        <p:txBody>
          <a:bodyPr wrap="square" anchor="t" lIns="0" rIns="0" tIns="0" bIns="0">
            <a:spAutoFit/>
          </a:bodyPr>
          <a:lstStyle/>
          <a:p>
            <a:pPr algn="l">
              <a:spcBef>
                <a:spcPts val="0"/>
              </a:spcBef>
              <a:spcAft>
                <a:spcPts val="400"/>
              </a:spcAft>
            </a:pPr>
            <a:r>
              <a:rPr sz="1400" b="1" i="0">
                <a:solidFill>
                  <a:srgbClr val="2C5F1E"/>
                </a:solidFill>
                <a:latin typeface="Calibri"/>
              </a:rPr>
              <a:t>Proven end-to-end</a:t>
            </a:r>
          </a:p>
          <a:p>
            <a:pPr algn="l">
              <a:spcBef>
                <a:spcPts val="0"/>
              </a:spcBef>
              <a:spcAft>
                <a:spcPts val="400"/>
              </a:spcAft>
            </a:pPr>
            <a:r>
              <a:rPr sz="1250" b="0" i="0">
                <a:solidFill>
                  <a:srgbClr val="1A2330"/>
                </a:solidFill>
                <a:latin typeface="Calibri"/>
              </a:rPr>
              <a:t>front door · Secrets Manager read · external call · DynamoDB write — all in one request.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4" name="TextBox 3"/>
          <p:cNvSpPr txBox="1"/>
          <p:nvPr/>
        </p:nvSpPr>
        <p:spPr>
          <a:xfrm>
            <a:off x="1097280" y="384048"/>
            <a:ext cx="10424160" cy="822960"/>
          </a:xfrm>
          <a:prstGeom prst="rect">
            <a:avLst/>
          </a:prstGeom>
          <a:noFill/>
        </p:spPr>
        <p:txBody>
          <a:bodyPr wrap="square" anchor="t" lIns="0" rIns="0" tIns="0" bIns="0">
            <a:spAutoFit/>
          </a:bodyPr>
          <a:lstStyle/>
          <a:p>
            <a:pPr algn="l">
              <a:spcBef>
                <a:spcPts val="0"/>
              </a:spcBef>
              <a:spcAft>
                <a:spcPts val="400"/>
              </a:spcAft>
            </a:pPr>
            <a:r>
              <a:rPr sz="3000" b="1" i="0">
                <a:solidFill>
                  <a:srgbClr val="1A2330"/>
                </a:solidFill>
                <a:latin typeface="Calibri"/>
              </a:rPr>
              <a:t>Deep-tier: Networking</a:t>
            </a:r>
          </a:p>
          <a:p>
            <a:pPr algn="l">
              <a:spcBef>
                <a:spcPts val="0"/>
              </a:spcBef>
              <a:spcAft>
                <a:spcPts val="400"/>
              </a:spcAft>
            </a:pPr>
            <a:r>
              <a:rPr sz="1400" b="0" i="1">
                <a:solidFill>
                  <a:srgbClr val="0E7C86"/>
                </a:solidFill>
                <a:latin typeface="Calibri"/>
              </a:rPr>
              <a:t>Target design — Lambda in private subnets, data plane off the public internet</a:t>
            </a:r>
          </a:p>
        </p:txBody>
      </p:sp>
      <p:pic>
        <p:nvPicPr>
          <p:cNvPr id="5" name="Picture 4" descr="vpc2-1.png"/>
          <p:cNvPicPr>
            <a:picLocks noChangeAspect="1"/>
          </p:cNvPicPr>
          <p:nvPr/>
        </p:nvPicPr>
        <p:blipFill>
          <a:blip r:embed="rId2"/>
          <a:stretch>
            <a:fillRect/>
          </a:stretch>
        </p:blipFill>
        <p:spPr>
          <a:xfrm>
            <a:off x="502920" y="1600200"/>
            <a:ext cx="7772400" cy="4389173"/>
          </a:xfrm>
          <a:prstGeom prst="rect">
            <a:avLst/>
          </a:prstGeom>
        </p:spPr>
      </p:pic>
      <p:sp>
        <p:nvSpPr>
          <p:cNvPr id="6" name="TextBox 5"/>
          <p:cNvSpPr txBox="1"/>
          <p:nvPr/>
        </p:nvSpPr>
        <p:spPr>
          <a:xfrm>
            <a:off x="8549640" y="1783080"/>
            <a:ext cx="3200400" cy="4572000"/>
          </a:xfrm>
          <a:prstGeom prst="rect">
            <a:avLst/>
          </a:prstGeom>
          <a:noFill/>
        </p:spPr>
        <p:txBody>
          <a:bodyPr wrap="square" anchor="t" lIns="0" rIns="0" tIns="0" bIns="0">
            <a:spAutoFit/>
          </a:bodyPr>
          <a:lstStyle/>
          <a:p>
            <a:pPr algn="l">
              <a:spcBef>
                <a:spcPts val="0"/>
              </a:spcBef>
              <a:spcAft>
                <a:spcPts val="400"/>
              </a:spcAft>
            </a:pPr>
            <a:r>
              <a:rPr sz="1500" b="1" i="0">
                <a:solidFill>
                  <a:srgbClr val="0E7C86"/>
                </a:solidFill>
                <a:latin typeface="Calibri"/>
              </a:rPr>
              <a:t>Private compute</a:t>
            </a:r>
          </a:p>
          <a:p>
            <a:pPr algn="l">
              <a:spcBef>
                <a:spcPts val="0"/>
              </a:spcBef>
              <a:spcAft>
                <a:spcPts val="900"/>
              </a:spcAft>
            </a:pPr>
            <a:r>
              <a:rPr sz="1250" b="0" i="0">
                <a:solidFill>
                  <a:srgbClr val="1A2330"/>
                </a:solidFill>
                <a:latin typeface="Calibri"/>
              </a:rPr>
              <a:t>Lambda runs in private subnets across 2 AZs — no inbound from the internet.</a:t>
            </a:r>
          </a:p>
          <a:p>
            <a:pPr algn="l">
              <a:spcBef>
                <a:spcPts val="0"/>
              </a:spcBef>
              <a:spcAft>
                <a:spcPts val="400"/>
              </a:spcAft>
            </a:pPr>
            <a:r>
              <a:rPr sz="1500" b="1" i="0">
                <a:solidFill>
                  <a:srgbClr val="0E7C86"/>
                </a:solidFill>
                <a:latin typeface="Calibri"/>
              </a:rPr>
              <a:t>Private AWS access</a:t>
            </a:r>
          </a:p>
          <a:p>
            <a:pPr algn="l">
              <a:spcBef>
                <a:spcPts val="0"/>
              </a:spcBef>
              <a:spcAft>
                <a:spcPts val="900"/>
              </a:spcAft>
            </a:pPr>
            <a:r>
              <a:rPr sz="1250" b="0" i="0">
                <a:solidFill>
                  <a:srgbClr val="1A2330"/>
                </a:solidFill>
                <a:latin typeface="Calibri"/>
              </a:rPr>
              <a:t>VPC endpoints keep DynamoDB (gateway) and Secrets Manager (interface) traffic on the AWS network.</a:t>
            </a:r>
          </a:p>
          <a:p>
            <a:pPr algn="l">
              <a:spcBef>
                <a:spcPts val="0"/>
              </a:spcBef>
              <a:spcAft>
                <a:spcPts val="400"/>
              </a:spcAft>
            </a:pPr>
            <a:r>
              <a:rPr sz="1500" b="1" i="0">
                <a:solidFill>
                  <a:srgbClr val="0E7C86"/>
                </a:solidFill>
                <a:latin typeface="Calibri"/>
              </a:rPr>
              <a:t>Controlled egress</a:t>
            </a:r>
          </a:p>
          <a:p>
            <a:pPr algn="l">
              <a:spcBef>
                <a:spcPts val="0"/>
              </a:spcBef>
              <a:spcAft>
                <a:spcPts val="900"/>
              </a:spcAft>
            </a:pPr>
            <a:r>
              <a:rPr sz="1250" b="0" i="0">
                <a:solidFill>
                  <a:srgbClr val="1A2330"/>
                </a:solidFill>
                <a:latin typeface="Calibri"/>
              </a:rPr>
              <a:t>Only outbound to OpenWeatherMap, via NAT + Internet Gateway.</a:t>
            </a:r>
          </a:p>
          <a:p>
            <a:pPr algn="l">
              <a:spcBef>
                <a:spcPts val="0"/>
              </a:spcBef>
              <a:spcAft>
                <a:spcPts val="400"/>
              </a:spcAft>
            </a:pPr>
            <a:r>
              <a:rPr sz="1350" b="1" i="0">
                <a:solidFill>
                  <a:srgbClr val="FF9900"/>
                </a:solidFill>
                <a:latin typeface="Calibri"/>
              </a:rPr>
              <a:t>Pillar: Security</a:t>
            </a:r>
          </a:p>
          <a:p>
            <a:pPr algn="l">
              <a:spcBef>
                <a:spcPts val="0"/>
              </a:spcBef>
              <a:spcAft>
                <a:spcPts val="400"/>
              </a:spcAft>
            </a:pPr>
            <a:r>
              <a:rPr sz="1250" b="0" i="0">
                <a:solidFill>
                  <a:srgbClr val="1A2330"/>
                </a:solidFill>
                <a:latin typeface="Calibri"/>
              </a:rPr>
              <a:t>Least exposure — the sensitive paths never touch the public internet.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4" name="TextBox 3"/>
          <p:cNvSpPr txBox="1"/>
          <p:nvPr/>
        </p:nvSpPr>
        <p:spPr>
          <a:xfrm>
            <a:off x="1097280" y="384048"/>
            <a:ext cx="10424160" cy="822960"/>
          </a:xfrm>
          <a:prstGeom prst="rect">
            <a:avLst/>
          </a:prstGeom>
          <a:noFill/>
        </p:spPr>
        <p:txBody>
          <a:bodyPr wrap="square" anchor="t" lIns="0" rIns="0" tIns="0" bIns="0">
            <a:spAutoFit/>
          </a:bodyPr>
          <a:lstStyle/>
          <a:p>
            <a:pPr algn="l">
              <a:spcBef>
                <a:spcPts val="0"/>
              </a:spcBef>
              <a:spcAft>
                <a:spcPts val="400"/>
              </a:spcAft>
            </a:pPr>
            <a:r>
              <a:rPr sz="3000" b="1" i="0">
                <a:solidFill>
                  <a:srgbClr val="1A2330"/>
                </a:solidFill>
                <a:latin typeface="Calibri"/>
              </a:rPr>
              <a:t>Decisions × Well-Architected</a:t>
            </a:r>
          </a:p>
          <a:p>
            <a:pPr algn="l">
              <a:spcBef>
                <a:spcPts val="0"/>
              </a:spcBef>
              <a:spcAft>
                <a:spcPts val="400"/>
              </a:spcAft>
            </a:pPr>
            <a:r>
              <a:rPr sz="1400" b="0" i="1">
                <a:solidFill>
                  <a:srgbClr val="0E7C86"/>
                </a:solidFill>
                <a:latin typeface="Calibri"/>
              </a:rPr>
              <a:t>Every choice named a rejected option and a pillar (6-pillar framework)</a:t>
            </a:r>
          </a:p>
        </p:txBody>
      </p:sp>
      <p:sp>
        <p:nvSpPr>
          <p:cNvPr id="5" name="Rounded Rectangle 4"/>
          <p:cNvSpPr/>
          <p:nvPr/>
        </p:nvSpPr>
        <p:spPr>
          <a:xfrm>
            <a:off x="640080" y="1783080"/>
            <a:ext cx="3611880" cy="33832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783080"/>
            <a:ext cx="3611880" cy="603504"/>
          </a:xfrm>
          <a:prstGeom prst="roundRect">
            <a:avLst>
              <a:gd name="adj" fmla="val 12000"/>
            </a:avLst>
          </a:prstGeom>
          <a:solidFill>
            <a:srgbClr val="2E7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856231"/>
            <a:ext cx="3246120" cy="457200"/>
          </a:xfrm>
          <a:prstGeom prst="rect">
            <a:avLst/>
          </a:prstGeom>
          <a:noFill/>
        </p:spPr>
        <p:txBody>
          <a:bodyPr wrap="square" anchor="ctr" lIns="0" rIns="0" tIns="0" bIns="0">
            <a:spAutoFit/>
          </a:bodyPr>
          <a:lstStyle/>
          <a:p>
            <a:pPr algn="l">
              <a:spcBef>
                <a:spcPts val="0"/>
              </a:spcBef>
              <a:spcAft>
                <a:spcPts val="400"/>
              </a:spcAft>
            </a:pPr>
            <a:r>
              <a:rPr sz="1250" b="1" i="0">
                <a:solidFill>
                  <a:srgbClr val="FFFFFF"/>
                </a:solidFill>
                <a:latin typeface="Calibri"/>
              </a:rPr>
              <a:t>COST</a:t>
            </a:r>
          </a:p>
        </p:txBody>
      </p:sp>
      <p:sp>
        <p:nvSpPr>
          <p:cNvPr id="8" name="TextBox 7"/>
          <p:cNvSpPr txBox="1"/>
          <p:nvPr/>
        </p:nvSpPr>
        <p:spPr>
          <a:xfrm>
            <a:off x="868680" y="2606040"/>
            <a:ext cx="3154680" cy="2377440"/>
          </a:xfrm>
          <a:prstGeom prst="rect">
            <a:avLst/>
          </a:prstGeom>
          <a:noFill/>
        </p:spPr>
        <p:txBody>
          <a:bodyPr wrap="square" anchor="t" lIns="0" rIns="0" tIns="0" bIns="0">
            <a:spAutoFit/>
          </a:bodyPr>
          <a:lstStyle/>
          <a:p>
            <a:pPr algn="l">
              <a:spcBef>
                <a:spcPts val="0"/>
              </a:spcBef>
              <a:spcAft>
                <a:spcPts val="200"/>
              </a:spcAft>
            </a:pPr>
            <a:r>
              <a:rPr sz="1600" b="1" i="0">
                <a:solidFill>
                  <a:srgbClr val="1A2330"/>
                </a:solidFill>
                <a:latin typeface="Calibri"/>
              </a:rPr>
              <a:t>On-demand DynamoDB</a:t>
            </a:r>
          </a:p>
          <a:p>
            <a:pPr algn="l">
              <a:spcBef>
                <a:spcPts val="0"/>
              </a:spcBef>
              <a:spcAft>
                <a:spcPts val="1000"/>
              </a:spcAft>
            </a:pPr>
            <a:r>
              <a:rPr sz="1250" b="0" i="1">
                <a:solidFill>
                  <a:srgbClr val="5A6472"/>
                </a:solidFill>
                <a:latin typeface="Calibri"/>
              </a:rPr>
              <a:t>over RDS</a:t>
            </a:r>
          </a:p>
          <a:p>
            <a:pPr algn="l">
              <a:spcBef>
                <a:spcPts val="0"/>
              </a:spcBef>
              <a:spcAft>
                <a:spcPts val="400"/>
              </a:spcAft>
            </a:pPr>
            <a:r>
              <a:rPr sz="1300" b="0" i="0">
                <a:solidFill>
                  <a:srgbClr val="1A2330"/>
                </a:solidFill>
                <a:latin typeface="Calibri"/>
              </a:rPr>
              <a:t>Zero idle cost for a bursty, mostly-idle poller; RDS wins on ad-hoc SQL but bills 24×7.</a:t>
            </a:r>
          </a:p>
        </p:txBody>
      </p:sp>
      <p:sp>
        <p:nvSpPr>
          <p:cNvPr id="9" name="Rounded Rectangle 8"/>
          <p:cNvSpPr/>
          <p:nvPr/>
        </p:nvSpPr>
        <p:spPr>
          <a:xfrm>
            <a:off x="4453128" y="1783080"/>
            <a:ext cx="3611880" cy="33832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53128" y="1783080"/>
            <a:ext cx="3611880" cy="603504"/>
          </a:xfrm>
          <a:prstGeom prst="roundRect">
            <a:avLst>
              <a:gd name="adj" fmla="val 12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6008" y="1856231"/>
            <a:ext cx="3246120" cy="457200"/>
          </a:xfrm>
          <a:prstGeom prst="rect">
            <a:avLst/>
          </a:prstGeom>
          <a:noFill/>
        </p:spPr>
        <p:txBody>
          <a:bodyPr wrap="square" anchor="ctr" lIns="0" rIns="0" tIns="0" bIns="0">
            <a:spAutoFit/>
          </a:bodyPr>
          <a:lstStyle/>
          <a:p>
            <a:pPr algn="l">
              <a:spcBef>
                <a:spcPts val="0"/>
              </a:spcBef>
              <a:spcAft>
                <a:spcPts val="400"/>
              </a:spcAft>
            </a:pPr>
            <a:r>
              <a:rPr sz="1250" b="1" i="0">
                <a:solidFill>
                  <a:srgbClr val="FFFFFF"/>
                </a:solidFill>
                <a:latin typeface="Calibri"/>
              </a:rPr>
              <a:t>OPERATIONAL EXCELLENCE</a:t>
            </a:r>
          </a:p>
        </p:txBody>
      </p:sp>
      <p:sp>
        <p:nvSpPr>
          <p:cNvPr id="12" name="TextBox 11"/>
          <p:cNvSpPr txBox="1"/>
          <p:nvPr/>
        </p:nvSpPr>
        <p:spPr>
          <a:xfrm>
            <a:off x="4681728" y="2606040"/>
            <a:ext cx="3154680" cy="2377440"/>
          </a:xfrm>
          <a:prstGeom prst="rect">
            <a:avLst/>
          </a:prstGeom>
          <a:noFill/>
        </p:spPr>
        <p:txBody>
          <a:bodyPr wrap="square" anchor="t" lIns="0" rIns="0" tIns="0" bIns="0">
            <a:spAutoFit/>
          </a:bodyPr>
          <a:lstStyle/>
          <a:p>
            <a:pPr algn="l">
              <a:spcBef>
                <a:spcPts val="0"/>
              </a:spcBef>
              <a:spcAft>
                <a:spcPts val="200"/>
              </a:spcAft>
            </a:pPr>
            <a:r>
              <a:rPr sz="1600" b="1" i="0">
                <a:solidFill>
                  <a:srgbClr val="1A2330"/>
                </a:solidFill>
                <a:latin typeface="Calibri"/>
              </a:rPr>
              <a:t>API Gateway HTTP API</a:t>
            </a:r>
          </a:p>
          <a:p>
            <a:pPr algn="l">
              <a:spcBef>
                <a:spcPts val="0"/>
              </a:spcBef>
              <a:spcAft>
                <a:spcPts val="1000"/>
              </a:spcAft>
            </a:pPr>
            <a:r>
              <a:rPr sz="1250" b="0" i="1">
                <a:solidFill>
                  <a:srgbClr val="5A6472"/>
                </a:solidFill>
                <a:latin typeface="Calibri"/>
              </a:rPr>
              <a:t>over Function URL (IAM)</a:t>
            </a:r>
          </a:p>
          <a:p>
            <a:pPr algn="l">
              <a:spcBef>
                <a:spcPts val="0"/>
              </a:spcBef>
              <a:spcAft>
                <a:spcPts val="400"/>
              </a:spcAft>
            </a:pPr>
            <a:r>
              <a:rPr sz="1300" b="0" i="0">
                <a:solidFill>
                  <a:srgbClr val="1A2330"/>
                </a:solidFill>
                <a:latin typeface="Calibri"/>
              </a:rPr>
              <a:t>Clean public, browser-testable door; a signed Function URL can't open in a browser.</a:t>
            </a:r>
          </a:p>
        </p:txBody>
      </p:sp>
      <p:sp>
        <p:nvSpPr>
          <p:cNvPr id="13" name="Rounded Rectangle 12"/>
          <p:cNvSpPr/>
          <p:nvPr/>
        </p:nvSpPr>
        <p:spPr>
          <a:xfrm>
            <a:off x="8266175" y="1783080"/>
            <a:ext cx="3611880" cy="33832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66175" y="1783080"/>
            <a:ext cx="3611880" cy="603504"/>
          </a:xfrm>
          <a:prstGeom prst="roundRect">
            <a:avLst>
              <a:gd name="adj" fmla="val 12000"/>
            </a:avLst>
          </a:prstGeom>
          <a:solidFill>
            <a:srgbClr val="2C5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49055" y="1856231"/>
            <a:ext cx="3246120" cy="457200"/>
          </a:xfrm>
          <a:prstGeom prst="rect">
            <a:avLst/>
          </a:prstGeom>
          <a:noFill/>
        </p:spPr>
        <p:txBody>
          <a:bodyPr wrap="square" anchor="ctr" lIns="0" rIns="0" tIns="0" bIns="0">
            <a:spAutoFit/>
          </a:bodyPr>
          <a:lstStyle/>
          <a:p>
            <a:pPr algn="l">
              <a:spcBef>
                <a:spcPts val="0"/>
              </a:spcBef>
              <a:spcAft>
                <a:spcPts val="400"/>
              </a:spcAft>
            </a:pPr>
            <a:r>
              <a:rPr sz="1250" b="1" i="0">
                <a:solidFill>
                  <a:srgbClr val="FFFFFF"/>
                </a:solidFill>
                <a:latin typeface="Calibri"/>
              </a:rPr>
              <a:t>SECURITY</a:t>
            </a:r>
          </a:p>
        </p:txBody>
      </p:sp>
      <p:sp>
        <p:nvSpPr>
          <p:cNvPr id="16" name="TextBox 15"/>
          <p:cNvSpPr txBox="1"/>
          <p:nvPr/>
        </p:nvSpPr>
        <p:spPr>
          <a:xfrm>
            <a:off x="8494776" y="2606040"/>
            <a:ext cx="3154680" cy="2377440"/>
          </a:xfrm>
          <a:prstGeom prst="rect">
            <a:avLst/>
          </a:prstGeom>
          <a:noFill/>
        </p:spPr>
        <p:txBody>
          <a:bodyPr wrap="square" anchor="t" lIns="0" rIns="0" tIns="0" bIns="0">
            <a:spAutoFit/>
          </a:bodyPr>
          <a:lstStyle/>
          <a:p>
            <a:pPr algn="l">
              <a:spcBef>
                <a:spcPts val="0"/>
              </a:spcBef>
              <a:spcAft>
                <a:spcPts val="200"/>
              </a:spcAft>
            </a:pPr>
            <a:r>
              <a:rPr sz="1600" b="1" i="0">
                <a:solidFill>
                  <a:srgbClr val="1A2330"/>
                </a:solidFill>
                <a:latin typeface="Calibri"/>
              </a:rPr>
              <a:t>Secrets Manager</a:t>
            </a:r>
          </a:p>
          <a:p>
            <a:pPr algn="l">
              <a:spcBef>
                <a:spcPts val="0"/>
              </a:spcBef>
              <a:spcAft>
                <a:spcPts val="1000"/>
              </a:spcAft>
            </a:pPr>
            <a:r>
              <a:rPr sz="1250" b="0" i="1">
                <a:solidFill>
                  <a:srgbClr val="5A6472"/>
                </a:solidFill>
                <a:latin typeface="Calibri"/>
              </a:rPr>
              <a:t>over env var / hard-code</a:t>
            </a:r>
          </a:p>
          <a:p>
            <a:pPr algn="l">
              <a:spcBef>
                <a:spcPts val="0"/>
              </a:spcBef>
              <a:spcAft>
                <a:spcPts val="400"/>
              </a:spcAft>
            </a:pPr>
            <a:r>
              <a:rPr sz="1300" b="0" i="0">
                <a:solidFill>
                  <a:srgbClr val="1A2330"/>
                </a:solidFill>
                <a:latin typeface="Calibri"/>
              </a:rPr>
              <a:t>Key stays out of code and state, read at runtime, rotatable.</a:t>
            </a:r>
          </a:p>
        </p:txBody>
      </p:sp>
      <p:sp>
        <p:nvSpPr>
          <p:cNvPr id="17" name="TextBox 16"/>
          <p:cNvSpPr txBox="1"/>
          <p:nvPr/>
        </p:nvSpPr>
        <p:spPr>
          <a:xfrm>
            <a:off x="640080" y="5440680"/>
            <a:ext cx="10972800" cy="731520"/>
          </a:xfrm>
          <a:prstGeom prst="rect">
            <a:avLst/>
          </a:prstGeom>
          <a:noFill/>
        </p:spPr>
        <p:txBody>
          <a:bodyPr wrap="square" anchor="t" lIns="0" rIns="0" tIns="0" bIns="0">
            <a:spAutoFit/>
          </a:bodyPr>
          <a:lstStyle/>
          <a:p>
            <a:pPr algn="l">
              <a:spcBef>
                <a:spcPts val="0"/>
              </a:spcBef>
              <a:spcAft>
                <a:spcPts val="400"/>
              </a:spcAft>
            </a:pPr>
            <a:r>
              <a:rPr sz="1250" b="0" i="1">
                <a:solidFill>
                  <a:srgbClr val="5A6472"/>
                </a:solidFill>
                <a:latin typeface="Calibri"/>
              </a:rPr>
              <a:t>Reviewed against all six pillars — Operational Excellence, Security, Reliability, Performance Efficiency, Cost Optimization, Sustainability.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457200"/>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4" name="TextBox 3"/>
          <p:cNvSpPr txBox="1"/>
          <p:nvPr/>
        </p:nvSpPr>
        <p:spPr>
          <a:xfrm>
            <a:off x="1097280" y="384048"/>
            <a:ext cx="10424160" cy="822960"/>
          </a:xfrm>
          <a:prstGeom prst="rect">
            <a:avLst/>
          </a:prstGeom>
          <a:noFill/>
        </p:spPr>
        <p:txBody>
          <a:bodyPr wrap="square" anchor="t" lIns="0" rIns="0" tIns="0" bIns="0">
            <a:spAutoFit/>
          </a:bodyPr>
          <a:lstStyle/>
          <a:p>
            <a:pPr algn="l">
              <a:spcBef>
                <a:spcPts val="0"/>
              </a:spcBef>
              <a:spcAft>
                <a:spcPts val="400"/>
              </a:spcAft>
            </a:pPr>
            <a:r>
              <a:rPr sz="3000" b="1" i="0">
                <a:solidFill>
                  <a:srgbClr val="1A2330"/>
                </a:solidFill>
                <a:latin typeface="Calibri"/>
              </a:rPr>
              <a:t>What's left  ·  the one risk</a:t>
            </a:r>
          </a:p>
          <a:p>
            <a:pPr algn="l">
              <a:spcBef>
                <a:spcPts val="0"/>
              </a:spcBef>
              <a:spcAft>
                <a:spcPts val="400"/>
              </a:spcAft>
            </a:pPr>
            <a:r>
              <a:rPr sz="1400" b="0" i="1">
                <a:solidFill>
                  <a:srgbClr val="0E7C86"/>
                </a:solidFill>
                <a:latin typeface="Calibri"/>
              </a:rPr>
              <a:t>Standup close — the honest gaps and what I'm watching</a:t>
            </a:r>
          </a:p>
        </p:txBody>
      </p:sp>
      <p:sp>
        <p:nvSpPr>
          <p:cNvPr id="5" name="Rounded Rectangle 4"/>
          <p:cNvSpPr/>
          <p:nvPr/>
        </p:nvSpPr>
        <p:spPr>
          <a:xfrm>
            <a:off x="640080" y="1783080"/>
            <a:ext cx="5349240" cy="411480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846320" cy="3657600"/>
          </a:xfrm>
          <a:prstGeom prst="rect">
            <a:avLst/>
          </a:prstGeom>
          <a:noFill/>
        </p:spPr>
        <p:txBody>
          <a:bodyPr wrap="square" anchor="t" lIns="0" rIns="0" tIns="0" bIns="0">
            <a:spAutoFit/>
          </a:bodyPr>
          <a:lstStyle/>
          <a:p>
            <a:pPr algn="l">
              <a:spcBef>
                <a:spcPts val="0"/>
              </a:spcBef>
              <a:spcAft>
                <a:spcPts val="800"/>
              </a:spcAft>
            </a:pPr>
            <a:r>
              <a:rPr sz="1800" b="1" i="0">
                <a:solidFill>
                  <a:srgbClr val="0E7C86"/>
                </a:solidFill>
                <a:latin typeface="Calibri"/>
              </a:rPr>
              <a:t>What's left</a:t>
            </a:r>
          </a:p>
          <a:p>
            <a:pPr algn="l">
              <a:spcBef>
                <a:spcPts val="0"/>
              </a:spcBef>
              <a:spcAft>
                <a:spcPts val="700"/>
              </a:spcAft>
            </a:pPr>
            <a:r>
              <a:rPr sz="1350" b="0" i="0">
                <a:solidFill>
                  <a:srgbClr val="1A2330"/>
                </a:solidFill>
                <a:latin typeface="Calibri"/>
              </a:rPr>
              <a:t>•  Apply the throttling fix live (it's committed in main.tf).</a:t>
            </a:r>
          </a:p>
          <a:p>
            <a:pPr algn="l">
              <a:spcBef>
                <a:spcPts val="0"/>
              </a:spcBef>
              <a:spcAft>
                <a:spcPts val="700"/>
              </a:spcAft>
            </a:pPr>
            <a:r>
              <a:rPr sz="1350" b="0" i="0">
                <a:solidFill>
                  <a:srgbClr val="1A2330"/>
                </a:solidFill>
                <a:latin typeface="Calibri"/>
              </a:rPr>
              <a:t>•  Stand up the VPC: private subnets + endpoints + NAT.</a:t>
            </a:r>
          </a:p>
          <a:p>
            <a:pPr algn="l">
              <a:spcBef>
                <a:spcPts val="0"/>
              </a:spcBef>
              <a:spcAft>
                <a:spcPts val="700"/>
              </a:spcAft>
            </a:pPr>
            <a:r>
              <a:rPr sz="1350" b="0" i="0">
                <a:solidFill>
                  <a:srgbClr val="1A2330"/>
                </a:solidFill>
                <a:latin typeface="Calibri"/>
              </a:rPr>
              <a:t>•  Observability: CloudWatch log retention + X-Ray tracing.</a:t>
            </a:r>
          </a:p>
          <a:p>
            <a:pPr algn="l">
              <a:spcBef>
                <a:spcPts val="0"/>
              </a:spcBef>
              <a:spcAft>
                <a:spcPts val="700"/>
              </a:spcAft>
            </a:pPr>
            <a:r>
              <a:rPr sz="1350" b="0" i="0">
                <a:solidFill>
                  <a:srgbClr val="1A2330"/>
                </a:solidFill>
                <a:latin typeface="Calibri"/>
              </a:rPr>
              <a:t>•  Least-privilege role in place of shared LabRole (real account).</a:t>
            </a:r>
          </a:p>
          <a:p>
            <a:pPr algn="l">
              <a:spcBef>
                <a:spcPts val="0"/>
              </a:spcBef>
              <a:spcAft>
                <a:spcPts val="400"/>
              </a:spcAft>
            </a:pPr>
            <a:r>
              <a:rPr sz="1350" b="0" i="0">
                <a:solidFill>
                  <a:srgbClr val="1A2330"/>
                </a:solidFill>
                <a:latin typeface="Calibri"/>
              </a:rPr>
              <a:t>•  Document manual key rotation.</a:t>
            </a:r>
          </a:p>
        </p:txBody>
      </p:sp>
      <p:sp>
        <p:nvSpPr>
          <p:cNvPr id="7" name="Rounded Rectangle 6"/>
          <p:cNvSpPr/>
          <p:nvPr/>
        </p:nvSpPr>
        <p:spPr>
          <a:xfrm>
            <a:off x="6172200" y="1783080"/>
            <a:ext cx="5349240" cy="4114800"/>
          </a:xfrm>
          <a:prstGeom prst="roundRect">
            <a:avLst>
              <a:gd name="adj" fmla="val 8000"/>
            </a:avLst>
          </a:prstGeom>
          <a:solidFill>
            <a:srgbClr val="FBECEC"/>
          </a:solidFill>
          <a:ln w="15240">
            <a:solidFill>
              <a:srgbClr val="B43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2011680"/>
            <a:ext cx="4846320" cy="3657600"/>
          </a:xfrm>
          <a:prstGeom prst="rect">
            <a:avLst/>
          </a:prstGeom>
          <a:noFill/>
        </p:spPr>
        <p:txBody>
          <a:bodyPr wrap="square" anchor="t" lIns="0" rIns="0" tIns="0" bIns="0">
            <a:spAutoFit/>
          </a:bodyPr>
          <a:lstStyle/>
          <a:p>
            <a:pPr algn="l">
              <a:spcBef>
                <a:spcPts val="0"/>
              </a:spcBef>
              <a:spcAft>
                <a:spcPts val="800"/>
              </a:spcAft>
            </a:pPr>
            <a:r>
              <a:rPr sz="1800" b="1" i="0">
                <a:solidFill>
                  <a:srgbClr val="B4322A"/>
                </a:solidFill>
                <a:latin typeface="Calibri"/>
              </a:rPr>
              <a:t>The one risk I'm watching</a:t>
            </a:r>
          </a:p>
          <a:p>
            <a:pPr algn="l">
              <a:spcBef>
                <a:spcPts val="0"/>
              </a:spcBef>
              <a:spcAft>
                <a:spcPts val="1000"/>
              </a:spcAft>
            </a:pPr>
            <a:r>
              <a:rPr sz="1400" b="0" i="0">
                <a:solidFill>
                  <a:srgbClr val="1A2330"/>
                </a:solidFill>
                <a:latin typeface="Calibri"/>
              </a:rPr>
              <a:t>The public GET /weather route is unauthenticated — every hit spends compute and a paid OpenWeatherMap call, so a burst could run up cost.</a:t>
            </a:r>
          </a:p>
          <a:p>
            <a:pPr algn="l">
              <a:spcBef>
                <a:spcPts val="0"/>
              </a:spcBef>
              <a:spcAft>
                <a:spcPts val="400"/>
              </a:spcAft>
            </a:pPr>
            <a:r>
              <a:rPr sz="1400" b="1" i="0">
                <a:solidFill>
                  <a:srgbClr val="1A2330"/>
                </a:solidFill>
                <a:latin typeface="Calibri"/>
              </a:rPr>
              <a:t>Mitigation in flight:</a:t>
            </a:r>
          </a:p>
          <a:p>
            <a:pPr algn="l">
              <a:spcBef>
                <a:spcPts val="0"/>
              </a:spcBef>
              <a:spcAft>
                <a:spcPts val="600"/>
              </a:spcAft>
            </a:pPr>
            <a:r>
              <a:rPr sz="1300" b="0" i="0">
                <a:solidFill>
                  <a:srgbClr val="1A2330"/>
                </a:solidFill>
                <a:latin typeface="Calibri"/>
              </a:rPr>
              <a:t>•  Stage throttling (10 req/s, burst 5) — committed, returns HTTP 429 past the limit.</a:t>
            </a:r>
          </a:p>
          <a:p>
            <a:pPr algn="l">
              <a:spcBef>
                <a:spcPts val="0"/>
              </a:spcBef>
              <a:spcAft>
                <a:spcPts val="400"/>
              </a:spcAft>
            </a:pPr>
            <a:r>
              <a:rPr sz="1300" b="0" i="0">
                <a:solidFill>
                  <a:srgbClr val="1A2330"/>
                </a:solidFill>
                <a:latin typeface="Calibri"/>
              </a:rPr>
              <a:t>•  Networking target moves the data plane to private VPC endpoints — off the internet entirely.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914400"/>
          </a:xfrm>
          <a:prstGeom prst="rect">
            <a:avLst/>
          </a:prstGeom>
          <a:noFill/>
        </p:spPr>
        <p:txBody>
          <a:bodyPr wrap="square" anchor="t" lIns="0" rIns="0" tIns="0" bIns="0">
            <a:spAutoFit/>
          </a:bodyPr>
          <a:lstStyle/>
          <a:p>
            <a:pPr algn="l">
              <a:spcBef>
                <a:spcPts val="0"/>
              </a:spcBef>
              <a:spcAft>
                <a:spcPts val="400"/>
              </a:spcAft>
            </a:pPr>
            <a:r>
              <a:rPr sz="3400" b="1" i="0">
                <a:solidFill>
                  <a:srgbClr val="FFFFFF"/>
                </a:solidFill>
                <a:latin typeface="Calibri"/>
              </a:rPr>
              <a:t>Sources</a:t>
            </a:r>
          </a:p>
          <a:p>
            <a:pPr algn="l">
              <a:spcBef>
                <a:spcPts val="0"/>
              </a:spcBef>
              <a:spcAft>
                <a:spcPts val="400"/>
              </a:spcAft>
            </a:pPr>
            <a:r>
              <a:rPr sz="1500" b="0" i="1">
                <a:solidFill>
                  <a:srgbClr val="CADCFC"/>
                </a:solidFill>
                <a:latin typeface="Calibri"/>
              </a:rPr>
              <a:t>Course references used for this deep-dive — review-round format</a:t>
            </a:r>
          </a:p>
        </p:txBody>
      </p:sp>
      <p:sp>
        <p:nvSpPr>
          <p:cNvPr id="4" name="Oval 3"/>
          <p:cNvSpPr/>
          <p:nvPr/>
        </p:nvSpPr>
        <p:spPr>
          <a:xfrm>
            <a:off x="868680" y="1938528"/>
            <a:ext cx="310896" cy="31089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5" name="TextBox 4"/>
          <p:cNvSpPr txBox="1"/>
          <p:nvPr/>
        </p:nvSpPr>
        <p:spPr>
          <a:xfrm>
            <a:off x="1371600" y="1874520"/>
            <a:ext cx="10058400" cy="822960"/>
          </a:xfrm>
          <a:prstGeom prst="rect">
            <a:avLst/>
          </a:prstGeom>
          <a:noFill/>
        </p:spPr>
        <p:txBody>
          <a:bodyPr wrap="square" anchor="t" lIns="0" rIns="0" tIns="0" bIns="0">
            <a:spAutoFit/>
          </a:bodyPr>
          <a:lstStyle/>
          <a:p>
            <a:pPr algn="l">
              <a:spcBef>
                <a:spcPts val="0"/>
              </a:spcBef>
              <a:spcAft>
                <a:spcPts val="100"/>
              </a:spcAft>
            </a:pPr>
            <a:r>
              <a:rPr sz="1550" b="1" i="0">
                <a:solidFill>
                  <a:srgbClr val="FFFFFF"/>
                </a:solidFill>
                <a:latin typeface="Calibri"/>
              </a:rPr>
              <a:t>AWS Well-Architected Framework (whitepaper, Nov 6 2024)</a:t>
            </a:r>
          </a:p>
          <a:p>
            <a:pPr algn="l">
              <a:spcBef>
                <a:spcPts val="0"/>
              </a:spcBef>
              <a:spcAft>
                <a:spcPts val="400"/>
              </a:spcAft>
            </a:pPr>
            <a:r>
              <a:rPr sz="1250" b="0" i="1">
                <a:solidFill>
                  <a:srgbClr val="CADCFC"/>
                </a:solidFill>
                <a:latin typeface="Calibri"/>
              </a:rPr>
              <a:t>docs.aws.amazon.com/wellarchitected/latest/framework/welcome.html</a:t>
            </a:r>
          </a:p>
        </p:txBody>
      </p:sp>
      <p:sp>
        <p:nvSpPr>
          <p:cNvPr id="6" name="Oval 5"/>
          <p:cNvSpPr/>
          <p:nvPr/>
        </p:nvSpPr>
        <p:spPr>
          <a:xfrm>
            <a:off x="868680" y="2962656"/>
            <a:ext cx="310896" cy="31089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7" name="TextBox 6"/>
          <p:cNvSpPr txBox="1"/>
          <p:nvPr/>
        </p:nvSpPr>
        <p:spPr>
          <a:xfrm>
            <a:off x="1371600" y="2898648"/>
            <a:ext cx="10058400" cy="822960"/>
          </a:xfrm>
          <a:prstGeom prst="rect">
            <a:avLst/>
          </a:prstGeom>
          <a:noFill/>
        </p:spPr>
        <p:txBody>
          <a:bodyPr wrap="square" anchor="t" lIns="0" rIns="0" tIns="0" bIns="0">
            <a:spAutoFit/>
          </a:bodyPr>
          <a:lstStyle/>
          <a:p>
            <a:pPr algn="l">
              <a:spcBef>
                <a:spcPts val="0"/>
              </a:spcBef>
              <a:spcAft>
                <a:spcPts val="100"/>
              </a:spcAft>
            </a:pPr>
            <a:r>
              <a:rPr sz="1550" b="1" i="0">
                <a:solidFill>
                  <a:srgbClr val="FFFFFF"/>
                </a:solidFill>
                <a:latin typeface="Calibri"/>
              </a:rPr>
              <a:t>Terraform AWS provider — aws_lambda_function, aws_dynamodb_table, aws_vpc / subnet, aws_vpc_endpoint</a:t>
            </a:r>
          </a:p>
          <a:p>
            <a:pPr algn="l">
              <a:spcBef>
                <a:spcPts val="0"/>
              </a:spcBef>
              <a:spcAft>
                <a:spcPts val="400"/>
              </a:spcAft>
            </a:pPr>
            <a:r>
              <a:rPr sz="1250" b="0" i="1">
                <a:solidFill>
                  <a:srgbClr val="CADCFC"/>
                </a:solidFill>
                <a:latin typeface="Calibri"/>
              </a:rPr>
              <a:t>registry.terraform.io/providers/hashicorp/aws/latest/docs</a:t>
            </a:r>
          </a:p>
        </p:txBody>
      </p:sp>
      <p:sp>
        <p:nvSpPr>
          <p:cNvPr id="8" name="Oval 7"/>
          <p:cNvSpPr/>
          <p:nvPr/>
        </p:nvSpPr>
        <p:spPr>
          <a:xfrm>
            <a:off x="868680" y="3986783"/>
            <a:ext cx="310896" cy="31089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9" name="TextBox 8"/>
          <p:cNvSpPr txBox="1"/>
          <p:nvPr/>
        </p:nvSpPr>
        <p:spPr>
          <a:xfrm>
            <a:off x="1371600" y="3922776"/>
            <a:ext cx="10058400" cy="822960"/>
          </a:xfrm>
          <a:prstGeom prst="rect">
            <a:avLst/>
          </a:prstGeom>
          <a:noFill/>
        </p:spPr>
        <p:txBody>
          <a:bodyPr wrap="square" anchor="t" lIns="0" rIns="0" tIns="0" bIns="0">
            <a:spAutoFit/>
          </a:bodyPr>
          <a:lstStyle/>
          <a:p>
            <a:pPr algn="l">
              <a:spcBef>
                <a:spcPts val="0"/>
              </a:spcBef>
              <a:spcAft>
                <a:spcPts val="100"/>
              </a:spcAft>
            </a:pPr>
            <a:r>
              <a:rPr sz="1550" b="1" i="0">
                <a:solidFill>
                  <a:srgbClr val="FFFFFF"/>
                </a:solidFill>
                <a:latin typeface="Calibri"/>
              </a:rPr>
              <a:t>AWS Lambda Developer Guide — configuring a function to access a VPC</a:t>
            </a:r>
          </a:p>
          <a:p>
            <a:pPr algn="l">
              <a:spcBef>
                <a:spcPts val="0"/>
              </a:spcBef>
              <a:spcAft>
                <a:spcPts val="400"/>
              </a:spcAft>
            </a:pPr>
            <a:r>
              <a:rPr sz="1250" b="0" i="1">
                <a:solidFill>
                  <a:srgbClr val="CADCFC"/>
                </a:solidFill>
                <a:latin typeface="Calibri"/>
              </a:rPr>
              <a:t>docs.aws.amazon.com/lambda/latest/dg/configuration-vpc.html</a:t>
            </a:r>
          </a:p>
        </p:txBody>
      </p:sp>
      <p:sp>
        <p:nvSpPr>
          <p:cNvPr id="10" name="Oval 9"/>
          <p:cNvSpPr/>
          <p:nvPr/>
        </p:nvSpPr>
        <p:spPr>
          <a:xfrm>
            <a:off x="868680" y="5010912"/>
            <a:ext cx="310896" cy="31089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1" name="TextBox 10"/>
          <p:cNvSpPr txBox="1"/>
          <p:nvPr/>
        </p:nvSpPr>
        <p:spPr>
          <a:xfrm>
            <a:off x="1371600" y="4946904"/>
            <a:ext cx="10058400" cy="822960"/>
          </a:xfrm>
          <a:prstGeom prst="rect">
            <a:avLst/>
          </a:prstGeom>
          <a:noFill/>
        </p:spPr>
        <p:txBody>
          <a:bodyPr wrap="square" anchor="t" lIns="0" rIns="0" tIns="0" bIns="0">
            <a:spAutoFit/>
          </a:bodyPr>
          <a:lstStyle/>
          <a:p>
            <a:pPr algn="l">
              <a:spcBef>
                <a:spcPts val="0"/>
              </a:spcBef>
              <a:spcAft>
                <a:spcPts val="100"/>
              </a:spcAft>
            </a:pPr>
            <a:r>
              <a:rPr sz="1550" b="1" i="0">
                <a:solidFill>
                  <a:srgbClr val="FFFFFF"/>
                </a:solidFill>
                <a:latin typeface="Calibri"/>
              </a:rPr>
              <a:t>Amazon DynamoDB Developer Guide — on-demand capacity mode</a:t>
            </a:r>
          </a:p>
          <a:p>
            <a:pPr algn="l">
              <a:spcBef>
                <a:spcPts val="0"/>
              </a:spcBef>
              <a:spcAft>
                <a:spcPts val="400"/>
              </a:spcAft>
            </a:pPr>
            <a:r>
              <a:rPr sz="1250" b="0" i="1">
                <a:solidFill>
                  <a:srgbClr val="CADCFC"/>
                </a:solidFill>
                <a:latin typeface="Calibri"/>
              </a:rPr>
              <a:t>docs.aws.amazon.com/amazondynamodb/latest/developerguide/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